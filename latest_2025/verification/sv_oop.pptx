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62" r:id="rId5"/>
    <p:sldId id="299" r:id="rId6"/>
    <p:sldId id="263" r:id="rId7"/>
    <p:sldId id="259" r:id="rId8"/>
    <p:sldId id="260" r:id="rId9"/>
    <p:sldId id="261" r:id="rId10"/>
    <p:sldId id="264" r:id="rId11"/>
    <p:sldId id="265" r:id="rId12"/>
    <p:sldId id="266" r:id="rId13"/>
    <p:sldId id="268" r:id="rId14"/>
    <p:sldId id="267" r:id="rId15"/>
    <p:sldId id="280" r:id="rId16"/>
    <p:sldId id="297" r:id="rId17"/>
    <p:sldId id="295" r:id="rId18"/>
    <p:sldId id="298" r:id="rId19"/>
    <p:sldId id="296" r:id="rId20"/>
    <p:sldId id="270" r:id="rId21"/>
    <p:sldId id="269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6" r:id="rId32"/>
    <p:sldId id="291" r:id="rId33"/>
    <p:sldId id="293" r:id="rId34"/>
    <p:sldId id="300" r:id="rId35"/>
    <p:sldId id="301" r:id="rId36"/>
    <p:sldId id="302" r:id="rId37"/>
    <p:sldId id="30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85F019-7F4D-40F7-A145-FF0BAE63BD0F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FAD92-D1A1-4112-94B6-2E9D97613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554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FAD92-D1A1-4112-94B6-2E9D976134C6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555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09E23-5C78-88FF-8CB9-C24722B6F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F560D0-5314-C7D6-2F13-7C986E710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2B4A-D02B-B790-7057-09D8D096E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951B9-CF48-4C3C-8593-166F7713F7B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CD8DF-8FF5-CC45-B836-27B957D6F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FE81E-983D-DB6D-76C0-69672931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E6154-12C6-4B53-BF4D-7BD6AEC8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519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E44FB-1ABA-115E-E76B-2C67791FE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B2DB9-A12A-81F7-8420-80D15716A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3C18B-626E-4D2E-3EA9-B9043D541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951B9-CF48-4C3C-8593-166F7713F7B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14076-2CA2-E44E-5D03-AFC9AF2FB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CDEE4-A785-EF9C-7514-2911DE255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E6154-12C6-4B53-BF4D-7BD6AEC8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479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1DEAB-9932-7F67-84E3-2A3B11911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36C22-C199-460E-DD11-7484C15B3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264B1-18DF-F95A-65C7-E610CED68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951B9-CF48-4C3C-8593-166F7713F7B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0FE07-3977-2A1C-1E7D-B835EDA9E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4D0F6-9295-3D9B-0B5A-74F344154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E6154-12C6-4B53-BF4D-7BD6AEC8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844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80EBB-B283-97C4-EBB9-427A5C577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FB20C-73C0-0053-F369-ACA0B6345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7CCAD7-8EEE-B664-2830-0164DC661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BF22A-0D9A-90BA-9518-0CAA48B49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951B9-CF48-4C3C-8593-166F7713F7B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B0053-A356-1BDE-E2BB-3ACBD24DE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18403-3B4F-3D89-4A9A-6B78AD86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E6154-12C6-4B53-BF4D-7BD6AEC8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410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EF26F-6731-0B30-ED43-4681358A0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417B1-6B6E-B550-4EAA-160424ECD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86A14-743B-8D06-AB7E-D170AD250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5F0D15-6236-C6F6-E862-9F0D51BC9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19C81C-E0DD-B878-41E1-AF64AD888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40C796-7DBF-D6DC-1F90-B34B80FB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951B9-CF48-4C3C-8593-166F7713F7B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7AF188-F2A9-B716-7762-9FBC31230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B2A126-C98C-2271-1088-18AD49115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E6154-12C6-4B53-BF4D-7BD6AEC8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101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1EB44-2A0A-25A3-BA49-DABFFBD7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CFCF84-06BC-352A-BEAC-D204F53F5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951B9-CF48-4C3C-8593-166F7713F7B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70A216-15EA-BD0E-2A29-629874CD4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1A85BD-CDE4-0C4F-5D6B-DC44A9964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E6154-12C6-4B53-BF4D-7BD6AEC8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73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554471-04BE-70B8-9349-E7E924B01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951B9-CF48-4C3C-8593-166F7713F7B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76341F-B7EB-EE8C-8042-EEF21BB34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4FE13-78FE-2AD5-9229-FE26B3FC2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E6154-12C6-4B53-BF4D-7BD6AEC8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432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3FE50-F9D9-0436-E6C2-073F42C09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8F560-6289-B835-3C82-F819F4F67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D83CF-BA24-A15C-E64D-A54184B07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CFBE4-F150-E566-F5D5-F5F048AB7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951B9-CF48-4C3C-8593-166F7713F7B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F53ED-855B-FC00-D274-999AC273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11C6C-1BD1-2AAB-00C9-B397ED444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E6154-12C6-4B53-BF4D-7BD6AEC8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147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7C833-CFDF-CA71-D01C-D8E2C3E6F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067789-3DFA-3BE2-B7D6-59118E9E9F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50DBB-37E8-EB93-266C-F5C6252FE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460C0-929F-3844-8609-956B0CAF2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951B9-CF48-4C3C-8593-166F7713F7B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20045-F6A4-2122-57A7-24A70117F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D582F-2BB4-0A1C-5CAB-35D93B0EA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E6154-12C6-4B53-BF4D-7BD6AEC8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793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B4653-1357-F24E-EF1F-D9057E4C1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67CD6-466D-FA51-9602-928F33CA6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70935-C97E-9D36-F497-8566CB936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951B9-CF48-4C3C-8593-166F7713F7B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698D7-041C-EF6C-3D43-20E37FE49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C0E8B-71F0-199E-AEF9-037B21A6C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E6154-12C6-4B53-BF4D-7BD6AEC8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15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EEBBB8-62FF-442C-1A88-EE4A2CBAF0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461E7-18F8-CE6D-DA06-52021B9C5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171ED-A788-7474-36EB-725640271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951B9-CF48-4C3C-8593-166F7713F7B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0E28D-5751-365B-1CA7-09D44DFFB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DF42B-6EFD-1B42-F141-2602332FA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E6154-12C6-4B53-BF4D-7BD6AEC8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814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FFB60C-A165-239A-E53B-A937BB639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348E4-6C1A-37C6-3AC0-FA6D2A6C8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D33FF-D7E9-F8AF-0150-8C33352A91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51B9-CF48-4C3C-8593-166F7713F7B3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C00BB-44F4-6D34-40AA-CC1B8CF66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47419-69AC-878E-AB8A-069B24D5A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E6154-12C6-4B53-BF4D-7BD6AEC8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88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52CC3-19C6-099F-7128-B108EE256B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err="1"/>
              <a:t>SystemVerilog</a:t>
            </a:r>
            <a:r>
              <a:rPr lang="en-IN" b="1" dirty="0"/>
              <a:t> for Functional Verification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19BDDF-0C20-E553-9ECF-ED37CC6EF2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235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5B495-36E5-31DA-B136-43EAF51C2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582" y="212034"/>
            <a:ext cx="10515600" cy="1325563"/>
          </a:xfrm>
        </p:spPr>
        <p:txBody>
          <a:bodyPr/>
          <a:lstStyle/>
          <a:p>
            <a:r>
              <a:rPr lang="en-IN" dirty="0"/>
              <a:t>What is </a:t>
            </a:r>
            <a:r>
              <a:rPr lang="en-IN" dirty="0" err="1"/>
              <a:t>SystemVerilog</a:t>
            </a:r>
            <a:r>
              <a:rPr lang="en-IN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02CE0-EFEC-FDD0-ED40-EC86ABDE4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676" y="1253331"/>
            <a:ext cx="11189413" cy="4351338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IN" b="1" dirty="0" err="1"/>
              <a:t>SystemVerilog</a:t>
            </a:r>
            <a:r>
              <a:rPr lang="en-IN" dirty="0"/>
              <a:t> is a </a:t>
            </a:r>
            <a:r>
              <a:rPr lang="en-IN" i="1" dirty="0"/>
              <a:t>hardware description and verification language (HDVL)</a:t>
            </a:r>
            <a:r>
              <a:rPr lang="en-IN" dirty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It’s an </a:t>
            </a:r>
            <a:r>
              <a:rPr lang="en-IN" b="1" dirty="0"/>
              <a:t>extension of Verilog</a:t>
            </a:r>
            <a:r>
              <a:rPr lang="en-IN" dirty="0"/>
              <a:t> that supports both: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Design modelling</a:t>
            </a:r>
            <a:r>
              <a:rPr lang="en-IN" dirty="0"/>
              <a:t> (RTL, synthesis, simulation), and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Verification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A8E04C-BF19-95A9-1150-6E2708D5A911}"/>
              </a:ext>
            </a:extLst>
          </p:cNvPr>
          <p:cNvSpPr txBox="1"/>
          <p:nvPr/>
        </p:nvSpPr>
        <p:spPr>
          <a:xfrm>
            <a:off x="2440967" y="4331212"/>
            <a:ext cx="6097712" cy="12352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000" b="1" dirty="0"/>
              <a:t>2002 </a:t>
            </a:r>
            <a:r>
              <a:rPr lang="en-IN" sz="2000" b="1" dirty="0">
                <a:sym typeface="Wingdings" panose="05000000000000000000" pitchFamily="2" charset="2"/>
              </a:rPr>
              <a:t> </a:t>
            </a:r>
            <a:r>
              <a:rPr lang="en-IN" sz="2000" b="1" dirty="0" err="1"/>
              <a:t>SystemVerilog</a:t>
            </a:r>
            <a:r>
              <a:rPr lang="en-IN" sz="2000" b="1" dirty="0"/>
              <a:t> was developed by </a:t>
            </a:r>
            <a:r>
              <a:rPr lang="en-IN" sz="2000" b="1" dirty="0" err="1"/>
              <a:t>Accellera</a:t>
            </a:r>
            <a:endParaRPr lang="en-IN" sz="2000" b="1" dirty="0"/>
          </a:p>
          <a:p>
            <a:pPr>
              <a:lnSpc>
                <a:spcPct val="200000"/>
              </a:lnSpc>
            </a:pPr>
            <a:r>
              <a:rPr lang="en-IN" sz="2000" b="1" dirty="0"/>
              <a:t>2005 </a:t>
            </a:r>
            <a:r>
              <a:rPr lang="en-IN" sz="2000" b="1" dirty="0">
                <a:sym typeface="Wingdings" panose="05000000000000000000" pitchFamily="2" charset="2"/>
              </a:rPr>
              <a:t></a:t>
            </a:r>
            <a:r>
              <a:rPr lang="en-IN" sz="2000" b="1" dirty="0"/>
              <a:t> IEEE 1800-2005: </a:t>
            </a:r>
            <a:r>
              <a:rPr lang="en-IN" sz="2000" b="1" dirty="0" err="1"/>
              <a:t>SystemVerilog</a:t>
            </a:r>
            <a:r>
              <a:rPr lang="en-IN" sz="2000" b="1" dirty="0"/>
              <a:t> Standard</a:t>
            </a:r>
          </a:p>
        </p:txBody>
      </p:sp>
    </p:spTree>
    <p:extLst>
      <p:ext uri="{BB962C8B-B14F-4D97-AF65-F5344CB8AC3E}">
        <p14:creationId xmlns:p14="http://schemas.microsoft.com/office/powerpoint/2010/main" val="2862557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50687-D306-4AE3-8752-C590415CC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Verification?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9C415-2148-2E3E-2A4E-5E42B3CDE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Verification ensures the RTL design </a:t>
            </a:r>
            <a:r>
              <a:rPr lang="en-US" b="1" dirty="0"/>
              <a:t>matches the specification</a:t>
            </a:r>
            <a:r>
              <a:rPr lang="en-US" dirty="0"/>
              <a:t> for </a:t>
            </a:r>
            <a:r>
              <a:rPr lang="en-US" i="1" dirty="0"/>
              <a:t>all valid inputs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F77B3-4B98-4E97-B0B9-1425A8606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20" y="2880683"/>
            <a:ext cx="9784991" cy="199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84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23BD40-A214-2CBF-A4D8-A7DAF9194089}"/>
              </a:ext>
            </a:extLst>
          </p:cNvPr>
          <p:cNvSpPr txBox="1"/>
          <p:nvPr/>
        </p:nvSpPr>
        <p:spPr>
          <a:xfrm>
            <a:off x="597173" y="78353"/>
            <a:ext cx="11526333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Most important pillars of modern verification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b="1" dirty="0"/>
              <a:t>Randomization</a:t>
            </a:r>
            <a:r>
              <a:rPr lang="en-US" sz="2400" dirty="0"/>
              <a:t> → how we </a:t>
            </a:r>
            <a:r>
              <a:rPr lang="en-US" sz="2400" i="1" dirty="0"/>
              <a:t>generate test inputs</a:t>
            </a:r>
            <a:r>
              <a:rPr lang="en-US" sz="2400" dirty="0"/>
              <a:t> intelligently</a:t>
            </a:r>
            <a:br>
              <a:rPr lang="en-US" sz="2400" dirty="0"/>
            </a:br>
            <a:r>
              <a:rPr lang="en-US" sz="2400" b="1" dirty="0"/>
              <a:t>Coverage measurement</a:t>
            </a:r>
            <a:r>
              <a:rPr lang="en-US" sz="2400" dirty="0"/>
              <a:t> → how we </a:t>
            </a:r>
            <a:r>
              <a:rPr lang="en-US" sz="2400" i="1" dirty="0"/>
              <a:t>measure what we’ve tested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51DE4F-8EEE-11D8-D2DD-8A5493DE9E01}"/>
              </a:ext>
            </a:extLst>
          </p:cNvPr>
          <p:cNvSpPr txBox="1"/>
          <p:nvPr/>
        </p:nvSpPr>
        <p:spPr>
          <a:xfrm>
            <a:off x="597173" y="357834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Constrained randomization: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D94C98-2CA8-C6D7-4DFA-CAAB55E66524}"/>
              </a:ext>
            </a:extLst>
          </p:cNvPr>
          <p:cNvSpPr txBox="1"/>
          <p:nvPr/>
        </p:nvSpPr>
        <p:spPr>
          <a:xfrm>
            <a:off x="449910" y="4512834"/>
            <a:ext cx="94406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To automatically generate </a:t>
            </a:r>
            <a:r>
              <a:rPr lang="en-US" sz="2400" i="1" dirty="0"/>
              <a:t>many different input combinations</a:t>
            </a:r>
            <a:r>
              <a:rPr lang="en-US" sz="2400" dirty="0"/>
              <a:t> that follow certain </a:t>
            </a:r>
            <a:r>
              <a:rPr lang="en-US" sz="2400" b="1" dirty="0"/>
              <a:t>rules or constraints</a:t>
            </a:r>
            <a:r>
              <a:rPr lang="en-US" sz="2400" dirty="0"/>
              <a:t>, instead of manually coding every test case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0245A-11FF-3476-4050-9A87A47ADD29}"/>
              </a:ext>
            </a:extLst>
          </p:cNvPr>
          <p:cNvSpPr txBox="1"/>
          <p:nvPr/>
        </p:nvSpPr>
        <p:spPr>
          <a:xfrm>
            <a:off x="597173" y="1861274"/>
            <a:ext cx="968040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Why Randomization is Powerful</a:t>
            </a:r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Saves time: you can test thousands of legal scenarios automatically.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Finds corner cases: unplanned combinations that might cause hidden bugs.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26512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C6FAA7-7F90-ED4A-8158-09294072E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416" y="859393"/>
            <a:ext cx="8296930" cy="52530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476B773-2D21-AA7E-75A1-698E5C48AD89}"/>
              </a:ext>
            </a:extLst>
          </p:cNvPr>
          <p:cNvSpPr/>
          <p:nvPr/>
        </p:nvSpPr>
        <p:spPr>
          <a:xfrm>
            <a:off x="2085654" y="780836"/>
            <a:ext cx="3061699" cy="1756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352664-CA45-260F-24D6-0EEEB5C8822D}"/>
              </a:ext>
            </a:extLst>
          </p:cNvPr>
          <p:cNvSpPr/>
          <p:nvPr/>
        </p:nvSpPr>
        <p:spPr>
          <a:xfrm>
            <a:off x="657546" y="4693144"/>
            <a:ext cx="1767155" cy="1756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7587DF-D608-6F12-6559-CE4DD85E1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784" y="132718"/>
            <a:ext cx="4486275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716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A8D72-B1B5-FB5A-DC65-93CC2A014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Coverage Measurement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4B7CC-0E06-A221-4640-00336FEC8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597732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To </a:t>
            </a:r>
            <a:r>
              <a:rPr lang="en-US" sz="2400" b="1" dirty="0"/>
              <a:t>measure how much of the design’s </a:t>
            </a:r>
            <a:r>
              <a:rPr lang="en-US" sz="2400" b="1" dirty="0" err="1"/>
              <a:t>behaviour</a:t>
            </a:r>
            <a:r>
              <a:rPr lang="en-US" sz="2400" b="1" dirty="0"/>
              <a:t>,</a:t>
            </a:r>
            <a:r>
              <a:rPr lang="en-US" sz="2400" dirty="0"/>
              <a:t> your tests have actually exercised.  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In other words:</a:t>
            </a:r>
          </a:p>
          <a:p>
            <a:pPr>
              <a:buNone/>
            </a:pPr>
            <a:r>
              <a:rPr lang="en-US" sz="2400" dirty="0"/>
              <a:t>“Have I tested </a:t>
            </a:r>
            <a:r>
              <a:rPr lang="en-US" sz="2400" i="1" dirty="0"/>
              <a:t>everything</a:t>
            </a:r>
            <a:r>
              <a:rPr lang="en-US" sz="2400" dirty="0"/>
              <a:t> I was supposed to?”</a:t>
            </a:r>
          </a:p>
          <a:p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DFB4B-6717-E9E8-8AD0-56A9581F63D6}"/>
              </a:ext>
            </a:extLst>
          </p:cNvPr>
          <p:cNvSpPr txBox="1"/>
          <p:nvPr/>
        </p:nvSpPr>
        <p:spPr>
          <a:xfrm>
            <a:off x="838198" y="3681691"/>
            <a:ext cx="10041835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Functional Coverage </a:t>
            </a:r>
            <a:endParaRPr lang="en-US" sz="2400" b="1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Did we test all important scenarios? </a:t>
            </a:r>
          </a:p>
          <a:p>
            <a:endParaRPr lang="en-US" sz="24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Did we try all valid </a:t>
            </a:r>
            <a:r>
              <a:rPr lang="en-US" sz="2400" b="1" dirty="0" err="1">
                <a:solidFill>
                  <a:srgbClr val="FF0000"/>
                </a:solidFill>
              </a:rPr>
              <a:t>sel</a:t>
            </a:r>
            <a:r>
              <a:rPr lang="en-US" sz="2400" b="1" dirty="0">
                <a:solidFill>
                  <a:srgbClr val="FF0000"/>
                </a:solidFill>
              </a:rPr>
              <a:t> values for MUX?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680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A61C2-FF30-369C-AE37-D4D4413C3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574249" cy="1460366"/>
          </a:xfrm>
        </p:spPr>
        <p:txBody>
          <a:bodyPr>
            <a:normAutofit/>
          </a:bodyPr>
          <a:lstStyle/>
          <a:p>
            <a:r>
              <a:rPr lang="en-IN" sz="6600" dirty="0"/>
              <a:t>Verilog </a:t>
            </a:r>
            <a:r>
              <a:rPr lang="en-IN" sz="6600" dirty="0">
                <a:sym typeface="Wingdings" panose="05000000000000000000" pitchFamily="2" charset="2"/>
              </a:rPr>
              <a:t> Directed </a:t>
            </a:r>
            <a:endParaRPr lang="en-IN" sz="6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90EB34-FB7A-35B1-7124-EBCA6D2BC5A7}"/>
              </a:ext>
            </a:extLst>
          </p:cNvPr>
          <p:cNvSpPr txBox="1"/>
          <p:nvPr/>
        </p:nvSpPr>
        <p:spPr>
          <a:xfrm>
            <a:off x="1107040" y="2133568"/>
            <a:ext cx="671159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// 2x1 Multiplexer</a:t>
            </a:r>
          </a:p>
          <a:p>
            <a:r>
              <a:rPr lang="en-IN" sz="3200" dirty="0"/>
              <a:t>module mux2x1 (</a:t>
            </a:r>
          </a:p>
          <a:p>
            <a:r>
              <a:rPr lang="en-IN" sz="3200" dirty="0"/>
              <a:t>  input  wire a, b,      // data inputs</a:t>
            </a:r>
          </a:p>
          <a:p>
            <a:r>
              <a:rPr lang="en-IN" sz="3200" dirty="0"/>
              <a:t>  input  wire </a:t>
            </a:r>
            <a:r>
              <a:rPr lang="en-IN" sz="3200" dirty="0" err="1"/>
              <a:t>sel</a:t>
            </a:r>
            <a:r>
              <a:rPr lang="en-IN" sz="3200" dirty="0"/>
              <a:t>,       // select line</a:t>
            </a:r>
          </a:p>
          <a:p>
            <a:r>
              <a:rPr lang="en-IN" sz="3200" dirty="0"/>
              <a:t>  output wire y          // output</a:t>
            </a:r>
          </a:p>
          <a:p>
            <a:r>
              <a:rPr lang="en-IN" sz="3200" dirty="0"/>
              <a:t>);</a:t>
            </a:r>
          </a:p>
          <a:p>
            <a:r>
              <a:rPr lang="en-IN" sz="3200" dirty="0"/>
              <a:t>  assign y = </a:t>
            </a:r>
            <a:r>
              <a:rPr lang="en-IN" sz="3200" dirty="0" err="1"/>
              <a:t>sel</a:t>
            </a:r>
            <a:r>
              <a:rPr lang="en-IN" sz="3200" dirty="0"/>
              <a:t> ? b : a;</a:t>
            </a:r>
          </a:p>
          <a:p>
            <a:r>
              <a:rPr lang="en-IN" sz="3200" dirty="0" err="1"/>
              <a:t>endmodule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3207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F24994-B2CE-A19B-0C2D-B2C279529EB0}"/>
              </a:ext>
            </a:extLst>
          </p:cNvPr>
          <p:cNvSpPr txBox="1"/>
          <p:nvPr/>
        </p:nvSpPr>
        <p:spPr>
          <a:xfrm>
            <a:off x="2327494" y="117693"/>
            <a:ext cx="7537012" cy="67403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`timescale 1ns/1ps</a:t>
            </a:r>
          </a:p>
          <a:p>
            <a:r>
              <a:rPr lang="en-IN" dirty="0"/>
              <a:t>module tb_mux2x1;</a:t>
            </a:r>
          </a:p>
          <a:p>
            <a:r>
              <a:rPr lang="en-IN" dirty="0"/>
              <a:t>  reg a, b, </a:t>
            </a:r>
            <a:r>
              <a:rPr lang="en-IN" dirty="0" err="1"/>
              <a:t>sel</a:t>
            </a:r>
            <a:r>
              <a:rPr lang="en-IN" dirty="0"/>
              <a:t>;   // inputs</a:t>
            </a:r>
          </a:p>
          <a:p>
            <a:r>
              <a:rPr lang="en-IN" dirty="0"/>
              <a:t>  wire y;          // output</a:t>
            </a:r>
          </a:p>
          <a:p>
            <a:endParaRPr lang="en-IN" dirty="0"/>
          </a:p>
          <a:p>
            <a:r>
              <a:rPr lang="en-IN" dirty="0"/>
              <a:t>  // Instantiate DUT</a:t>
            </a:r>
          </a:p>
          <a:p>
            <a:r>
              <a:rPr lang="en-IN" dirty="0"/>
              <a:t>  mux2x1 </a:t>
            </a:r>
            <a:r>
              <a:rPr lang="en-IN" dirty="0" err="1"/>
              <a:t>dut</a:t>
            </a:r>
            <a:r>
              <a:rPr lang="en-IN" dirty="0"/>
              <a:t> (.a(a), .b(b), .</a:t>
            </a:r>
            <a:r>
              <a:rPr lang="en-IN" dirty="0" err="1"/>
              <a:t>sel</a:t>
            </a:r>
            <a:r>
              <a:rPr lang="en-IN" dirty="0"/>
              <a:t>(</a:t>
            </a:r>
            <a:r>
              <a:rPr lang="en-IN" dirty="0" err="1"/>
              <a:t>sel</a:t>
            </a:r>
            <a:r>
              <a:rPr lang="en-IN" dirty="0"/>
              <a:t>), .y(y));</a:t>
            </a:r>
          </a:p>
          <a:p>
            <a:endParaRPr lang="en-IN" dirty="0"/>
          </a:p>
          <a:p>
            <a:r>
              <a:rPr lang="en-IN" dirty="0"/>
              <a:t>  // Stimulus</a:t>
            </a:r>
          </a:p>
          <a:p>
            <a:r>
              <a:rPr lang="en-IN" dirty="0"/>
              <a:t>  initial begin</a:t>
            </a:r>
          </a:p>
          <a:p>
            <a:endParaRPr lang="en-IN" dirty="0"/>
          </a:p>
          <a:p>
            <a:r>
              <a:rPr lang="en-IN" dirty="0"/>
              <a:t>// Apply test vectors</a:t>
            </a:r>
          </a:p>
          <a:p>
            <a:r>
              <a:rPr lang="en-IN" dirty="0"/>
              <a:t>    a=0; b=0; </a:t>
            </a:r>
            <a:r>
              <a:rPr lang="en-IN" dirty="0" err="1"/>
              <a:t>sel</a:t>
            </a:r>
            <a:r>
              <a:rPr lang="en-IN" dirty="0"/>
              <a:t>=0; #10; // Expect Y=0</a:t>
            </a:r>
          </a:p>
          <a:p>
            <a:r>
              <a:rPr lang="en-IN" dirty="0"/>
              <a:t>    a=0; b=0; </a:t>
            </a:r>
            <a:r>
              <a:rPr lang="en-IN" dirty="0" err="1"/>
              <a:t>sel</a:t>
            </a:r>
            <a:r>
              <a:rPr lang="en-IN" dirty="0"/>
              <a:t>=1; #10; // Expect Y=0</a:t>
            </a:r>
          </a:p>
          <a:p>
            <a:r>
              <a:rPr lang="en-IN" dirty="0"/>
              <a:t>    a=0; b=1; </a:t>
            </a:r>
            <a:r>
              <a:rPr lang="en-IN" dirty="0" err="1"/>
              <a:t>sel</a:t>
            </a:r>
            <a:r>
              <a:rPr lang="en-IN" dirty="0"/>
              <a:t>=0; #10; // Expect Y=0</a:t>
            </a:r>
          </a:p>
          <a:p>
            <a:r>
              <a:rPr lang="en-IN" dirty="0"/>
              <a:t>    a=0; b=1; </a:t>
            </a:r>
            <a:r>
              <a:rPr lang="en-IN" dirty="0" err="1"/>
              <a:t>sel</a:t>
            </a:r>
            <a:r>
              <a:rPr lang="en-IN" dirty="0"/>
              <a:t>=1; #10; // Expect Y=1</a:t>
            </a:r>
          </a:p>
          <a:p>
            <a:r>
              <a:rPr lang="en-IN" dirty="0"/>
              <a:t>    a=1; b=0; </a:t>
            </a:r>
            <a:r>
              <a:rPr lang="en-IN" dirty="0" err="1"/>
              <a:t>sel</a:t>
            </a:r>
            <a:r>
              <a:rPr lang="en-IN" dirty="0"/>
              <a:t>=0; #10; // Expect Y=1</a:t>
            </a:r>
          </a:p>
          <a:p>
            <a:r>
              <a:rPr lang="en-IN" dirty="0"/>
              <a:t>    a=1; b=0; </a:t>
            </a:r>
            <a:r>
              <a:rPr lang="en-IN" dirty="0" err="1"/>
              <a:t>sel</a:t>
            </a:r>
            <a:r>
              <a:rPr lang="en-IN" dirty="0"/>
              <a:t>=1; #10; // Expect Y=0</a:t>
            </a:r>
          </a:p>
          <a:p>
            <a:r>
              <a:rPr lang="en-IN" dirty="0"/>
              <a:t>    a=1; b=1; </a:t>
            </a:r>
            <a:r>
              <a:rPr lang="en-IN" dirty="0" err="1"/>
              <a:t>sel</a:t>
            </a:r>
            <a:r>
              <a:rPr lang="en-IN" dirty="0"/>
              <a:t>=0; #10; // Expect Y=1</a:t>
            </a:r>
          </a:p>
          <a:p>
            <a:r>
              <a:rPr lang="en-IN" dirty="0"/>
              <a:t>    a=1; b=1; </a:t>
            </a:r>
            <a:r>
              <a:rPr lang="en-IN" dirty="0" err="1"/>
              <a:t>sel</a:t>
            </a:r>
            <a:r>
              <a:rPr lang="en-IN" dirty="0"/>
              <a:t>=1; #10; // Expect Y=1</a:t>
            </a:r>
          </a:p>
          <a:p>
            <a:endParaRPr lang="en-IN" dirty="0"/>
          </a:p>
          <a:p>
            <a:r>
              <a:rPr lang="en-IN" dirty="0"/>
              <a:t>    $finish;</a:t>
            </a:r>
          </a:p>
          <a:p>
            <a:r>
              <a:rPr lang="en-IN" dirty="0"/>
              <a:t>  end</a:t>
            </a:r>
          </a:p>
          <a:p>
            <a:r>
              <a:rPr lang="en-IN" dirty="0" err="1"/>
              <a:t>endmodule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3856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093978-BCB2-18DA-CA37-FD34FCF28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4" y="376117"/>
            <a:ext cx="10545707" cy="3209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E4B788-C6E5-2945-092B-509B7816F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272" y="3769004"/>
            <a:ext cx="6383455" cy="210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101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D137B-FF58-6858-0113-36983C2A2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Design (DUT) — Single-Port RAM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3BF543-EF7C-F66A-5987-91184EF29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98" y="2331207"/>
            <a:ext cx="7847521" cy="322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57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CEDACD-CB62-2558-0CCF-05078581B53A}"/>
              </a:ext>
            </a:extLst>
          </p:cNvPr>
          <p:cNvSpPr txBox="1"/>
          <p:nvPr/>
        </p:nvSpPr>
        <p:spPr>
          <a:xfrm>
            <a:off x="159027" y="0"/>
            <a:ext cx="10734261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/>
              <a:t>What Does “Coverage” Mean Here?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/>
              <a:t>Functional coverage</a:t>
            </a:r>
            <a:r>
              <a:rPr lang="en-US" sz="2800" dirty="0"/>
              <a:t> answers: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/>
              <a:t>“Have we tested </a:t>
            </a:r>
            <a:r>
              <a:rPr lang="en-US" sz="2800" i="1" dirty="0"/>
              <a:t>all possible read/write </a:t>
            </a:r>
            <a:r>
              <a:rPr lang="en-US" sz="2800" i="1" dirty="0" err="1"/>
              <a:t>behaviours</a:t>
            </a:r>
            <a:r>
              <a:rPr lang="en-US" sz="2800" dirty="0"/>
              <a:t> of the RAM?”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16EE46-3B6E-D0E0-6668-4D4101231116}"/>
              </a:ext>
            </a:extLst>
          </p:cNvPr>
          <p:cNvSpPr txBox="1"/>
          <p:nvPr/>
        </p:nvSpPr>
        <p:spPr>
          <a:xfrm>
            <a:off x="159027" y="2388581"/>
            <a:ext cx="11211338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/>
              <a:t>That means: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Have we accessed </a:t>
            </a:r>
            <a:r>
              <a:rPr lang="en-US" sz="2400" b="1" dirty="0"/>
              <a:t>all addresses</a:t>
            </a:r>
            <a:r>
              <a:rPr lang="en-US" sz="2400" dirty="0"/>
              <a:t>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Have we done both </a:t>
            </a:r>
            <a:r>
              <a:rPr lang="en-US" sz="2400" b="1" dirty="0"/>
              <a:t>read and write</a:t>
            </a:r>
            <a:r>
              <a:rPr lang="en-US" sz="2400" dirty="0"/>
              <a:t> operations?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Have we tested </a:t>
            </a:r>
            <a:r>
              <a:rPr lang="en-US" sz="2400" b="1" dirty="0"/>
              <a:t>different data patterns</a:t>
            </a:r>
            <a:r>
              <a:rPr lang="en-US" sz="2400" dirty="0"/>
              <a:t>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Have we checked corner cases (e.g., read after write, same address read/write)?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/>
              <a:t>So, functional coverage helps measure </a:t>
            </a:r>
            <a:r>
              <a:rPr lang="en-US" sz="2400" b="1" dirty="0"/>
              <a:t>how thoroughly we’ve exercised the RAM’s functionality</a:t>
            </a:r>
            <a:r>
              <a:rPr lang="en-US" sz="2400" dirty="0"/>
              <a:t>, not just how many times it ran.</a:t>
            </a:r>
          </a:p>
        </p:txBody>
      </p:sp>
    </p:spTree>
    <p:extLst>
      <p:ext uri="{BB962C8B-B14F-4D97-AF65-F5344CB8AC3E}">
        <p14:creationId xmlns:p14="http://schemas.microsoft.com/office/powerpoint/2010/main" val="2839098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239F4-221E-2AA3-9705-BA2B21AF7E0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3583" y="351873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Analogy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C3CFF3-B8DF-3081-DA7C-DB2F699A1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043" y="2128079"/>
            <a:ext cx="10137913" cy="31982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659846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715C3D-69BD-0F15-0685-EB35C6E91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41" y="2152504"/>
            <a:ext cx="11411940" cy="3029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742A80-765E-1C5C-1736-2159BC4B3302}"/>
              </a:ext>
            </a:extLst>
          </p:cNvPr>
          <p:cNvSpPr txBox="1"/>
          <p:nvPr/>
        </p:nvSpPr>
        <p:spPr>
          <a:xfrm>
            <a:off x="605841" y="722293"/>
            <a:ext cx="109803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 Verilog testbench is like a manual tester who runs fixed tests and looks at results on paper.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688739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D32F4-D082-F8C7-9EEF-D9E30A986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we need…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AE9BC-D3C0-8594-04EA-1ECD1ED83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613" y="1825625"/>
            <a:ext cx="11194774" cy="4351338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A software framework which creates an </a:t>
            </a:r>
            <a:r>
              <a:rPr lang="en-US" b="1" i="1" dirty="0">
                <a:solidFill>
                  <a:srgbClr val="FF0000"/>
                </a:solidFill>
              </a:rPr>
              <a:t>intelligent testing environment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that can </a:t>
            </a:r>
            <a:r>
              <a:rPr lang="en-US" b="1" dirty="0">
                <a:solidFill>
                  <a:srgbClr val="002060"/>
                </a:solidFill>
              </a:rPr>
              <a:t>generate thousands of valid scenarios, check correctness automatically, and measure what’s been tested (coverage).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787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E66F-3293-A070-1632-ABEC74FD0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SV?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573A6-D166-1B9A-3E4F-D85404183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 You </a:t>
            </a:r>
            <a:r>
              <a:rPr lang="en-US" i="1" dirty="0"/>
              <a:t>can</a:t>
            </a:r>
            <a:r>
              <a:rPr lang="en-US" dirty="0"/>
              <a:t> create your own layered testbench using </a:t>
            </a:r>
            <a:r>
              <a:rPr lang="en-US" dirty="0" err="1"/>
              <a:t>SystemVerilog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A </a:t>
            </a:r>
            <a:r>
              <a:rPr lang="en-US" b="1" dirty="0"/>
              <a:t>layered testbench</a:t>
            </a:r>
            <a:r>
              <a:rPr lang="en-US" dirty="0"/>
              <a:t> organizes verification logic into modular layers — so that stimulus generation, driving, monitoring, checking, and coverage are separated. </a:t>
            </a:r>
          </a:p>
          <a:p>
            <a:pPr>
              <a:lnSpc>
                <a:spcPct val="150000"/>
              </a:lnSpc>
            </a:pPr>
            <a:r>
              <a:rPr lang="en-US" dirty="0"/>
              <a:t>You can use </a:t>
            </a:r>
            <a:r>
              <a:rPr lang="en-US" b="1" dirty="0"/>
              <a:t>UVM</a:t>
            </a:r>
            <a:r>
              <a:rPr lang="en-US" dirty="0"/>
              <a:t> which is a framework built on top of </a:t>
            </a:r>
            <a:r>
              <a:rPr lang="en-US" dirty="0" err="1"/>
              <a:t>SystemVerilog</a:t>
            </a:r>
            <a:r>
              <a:rPr lang="en-US" dirty="0"/>
              <a:t> — it defines a standardized structure for building reusable verification environments.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9279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F4F2E-17D1-3655-57D5-78294C495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600" dirty="0"/>
              <a:t>The word </a:t>
            </a:r>
            <a:r>
              <a:rPr lang="en-US" sz="3600" b="1" dirty="0"/>
              <a:t>“layered”</a:t>
            </a:r>
            <a:r>
              <a:rPr lang="en-US" sz="3600" dirty="0"/>
              <a:t> simply means that the testbench is </a:t>
            </a:r>
            <a:r>
              <a:rPr lang="en-US" sz="3600" b="1" dirty="0"/>
              <a:t>organized in distinct levels (or layers)</a:t>
            </a:r>
            <a:r>
              <a:rPr lang="en-US" sz="3600" dirty="0"/>
              <a:t> —</a:t>
            </a:r>
            <a:br>
              <a:rPr lang="en-US" sz="3600" dirty="0"/>
            </a:br>
            <a:r>
              <a:rPr lang="en-US" sz="3600" dirty="0"/>
              <a:t>each layer performs one </a:t>
            </a:r>
            <a:r>
              <a:rPr lang="en-US" sz="3600" b="1" dirty="0"/>
              <a:t>specific function</a:t>
            </a:r>
            <a:r>
              <a:rPr lang="en-US" sz="3600" dirty="0"/>
              <a:t> in the verification process.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698412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F843D6-EB0C-3D89-0BEB-9AD3B9A49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439" y="2375859"/>
            <a:ext cx="7806152" cy="42001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9BF9A2-A99D-AE96-DA2E-B4F974D575C3}"/>
              </a:ext>
            </a:extLst>
          </p:cNvPr>
          <p:cNvSpPr txBox="1"/>
          <p:nvPr/>
        </p:nvSpPr>
        <p:spPr>
          <a:xfrm>
            <a:off x="2359096" y="597042"/>
            <a:ext cx="766848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A layered testbench has multiple logical layers that work together to verify the DUT (Device Under Test).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722120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123F65-17F1-5B03-7955-460769C8C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759" y="661777"/>
            <a:ext cx="7188481" cy="584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14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015A48-C982-117C-D5F4-A71546AD1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504" y="161458"/>
            <a:ext cx="5409838" cy="65350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827894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8E16F-9DD3-9A7F-21C9-CFFB254C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Verification framework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E261E-5249-881F-081F-5B5C36CD3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6144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industry needed a </a:t>
            </a:r>
            <a:r>
              <a:rPr lang="en-US" b="1" dirty="0"/>
              <a:t>common verification framework</a:t>
            </a:r>
            <a:r>
              <a:rPr lang="en-US" dirty="0"/>
              <a:t> to avoid each company writing its own structure.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Universal Verification Methodology (UVM)</a:t>
            </a:r>
            <a:r>
              <a:rPr lang="en-US" dirty="0"/>
              <a:t> was born — built entirely </a:t>
            </a:r>
            <a:r>
              <a:rPr lang="en-US" i="1" dirty="0"/>
              <a:t>on top of </a:t>
            </a:r>
            <a:r>
              <a:rPr lang="en-US" i="1" dirty="0" err="1"/>
              <a:t>SystemVerilog</a:t>
            </a:r>
            <a:r>
              <a:rPr lang="en-US" dirty="0"/>
              <a:t> using its OOP features.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UVM  is not a separate language — it’s a </a:t>
            </a:r>
            <a:r>
              <a:rPr lang="en-IN" dirty="0" err="1"/>
              <a:t>SystemVerilog</a:t>
            </a:r>
            <a:r>
              <a:rPr lang="en-IN" dirty="0"/>
              <a:t> class library. </a:t>
            </a:r>
          </a:p>
        </p:txBody>
      </p:sp>
    </p:spTree>
    <p:extLst>
      <p:ext uri="{BB962C8B-B14F-4D97-AF65-F5344CB8AC3E}">
        <p14:creationId xmlns:p14="http://schemas.microsoft.com/office/powerpoint/2010/main" val="2737666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FCCD4-3C2D-9433-831A-C7C86BD6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UVM (Universal Verification Methodology)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D9441-15CD-8B84-A674-29D5FCF20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426" y="1507573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A library/framework written in </a:t>
            </a:r>
            <a:r>
              <a:rPr lang="en-US" dirty="0" err="1"/>
              <a:t>SystemVerilog</a:t>
            </a:r>
            <a:r>
              <a:rPr lang="en-US" dirty="0"/>
              <a:t> (SV) that defines how to organize and reuse features (randomization, coverage, OOP, interfaces, and assertions) of verification setup.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39F600-71BE-9255-31D0-FFA832288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232" y="3996487"/>
            <a:ext cx="7497536" cy="10272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048662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7AFA2-C742-F52B-7CCA-80AE2F0C9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SV datatype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A0BF-E8A0-A57E-FEF4-991567A7C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In Verilog, data types were simple but limited — mostly just reg, wire, and integer.</a:t>
            </a:r>
            <a:br>
              <a:rPr lang="en-US" dirty="0"/>
            </a:br>
            <a:r>
              <a:rPr lang="en-US" dirty="0" err="1"/>
              <a:t>SystemVerilog</a:t>
            </a:r>
            <a:r>
              <a:rPr lang="en-US" dirty="0"/>
              <a:t> extended this to provide </a:t>
            </a:r>
            <a:r>
              <a:rPr lang="en-US" b="1" dirty="0"/>
              <a:t>stronger typing, 4-state logic control, signed arithmetic, and high-level verification types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8073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255C3C-9061-C1EF-E3F8-42A571405A0F}"/>
              </a:ext>
            </a:extLst>
          </p:cNvPr>
          <p:cNvSpPr txBox="1"/>
          <p:nvPr/>
        </p:nvSpPr>
        <p:spPr>
          <a:xfrm>
            <a:off x="1086679" y="1509093"/>
            <a:ext cx="4717773" cy="1803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module and_gate1;</a:t>
            </a:r>
          </a:p>
          <a:p>
            <a:r>
              <a:rPr lang="en-US" dirty="0"/>
              <a:t>  reg a, b, y;</a:t>
            </a:r>
          </a:p>
          <a:p>
            <a:r>
              <a:rPr lang="en-US" dirty="0"/>
              <a:t>  always @(*) begin</a:t>
            </a:r>
          </a:p>
          <a:p>
            <a:r>
              <a:rPr lang="en-US" dirty="0"/>
              <a:t>    y = a &amp; b;    // Procedural assignment</a:t>
            </a:r>
          </a:p>
          <a:p>
            <a:r>
              <a:rPr lang="en-US" dirty="0"/>
              <a:t>  end</a:t>
            </a:r>
          </a:p>
          <a:p>
            <a:r>
              <a:rPr lang="en-US" dirty="0" err="1"/>
              <a:t>endmodule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DCA543-AB3C-763C-940C-B534B950D56B}"/>
              </a:ext>
            </a:extLst>
          </p:cNvPr>
          <p:cNvSpPr txBox="1"/>
          <p:nvPr/>
        </p:nvSpPr>
        <p:spPr>
          <a:xfrm>
            <a:off x="5897218" y="167920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module and_gate2;</a:t>
            </a:r>
          </a:p>
          <a:p>
            <a:r>
              <a:rPr lang="en-US" dirty="0"/>
              <a:t>  wire a, b, y;</a:t>
            </a:r>
          </a:p>
          <a:p>
            <a:r>
              <a:rPr lang="en-US" dirty="0"/>
              <a:t>  assign y = a &amp; b;  // Continuous assignment</a:t>
            </a:r>
          </a:p>
          <a:p>
            <a:r>
              <a:rPr lang="en-US" dirty="0" err="1"/>
              <a:t>endmodule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071523-710B-BEB6-3A06-430CE66C228F}"/>
              </a:ext>
            </a:extLst>
          </p:cNvPr>
          <p:cNvSpPr txBox="1"/>
          <p:nvPr/>
        </p:nvSpPr>
        <p:spPr>
          <a:xfrm>
            <a:off x="708917" y="593399"/>
            <a:ext cx="98940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Verilog rule --&gt; “Net type wire cannot be assigned in a procedural block.”</a:t>
            </a:r>
            <a:endParaRPr lang="en-IN" sz="24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AF4519-E2B1-FE1D-5FEA-044C1D444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812" y="3734515"/>
            <a:ext cx="5215280" cy="226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2827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E1BE-C1EE-7BEC-DC64-50DFDB49D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612" y="51835"/>
            <a:ext cx="10515600" cy="1325563"/>
          </a:xfrm>
        </p:spPr>
        <p:txBody>
          <a:bodyPr/>
          <a:lstStyle/>
          <a:p>
            <a:r>
              <a:rPr lang="en-US" b="1" dirty="0" err="1"/>
              <a:t>SystemVerilog</a:t>
            </a:r>
            <a:r>
              <a:rPr lang="en-US" b="1" dirty="0"/>
              <a:t>: Use logic for both!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AD201E-DDB8-AB51-A734-E6591C558403}"/>
              </a:ext>
            </a:extLst>
          </p:cNvPr>
          <p:cNvSpPr txBox="1"/>
          <p:nvPr/>
        </p:nvSpPr>
        <p:spPr>
          <a:xfrm>
            <a:off x="679174" y="1377398"/>
            <a:ext cx="4717773" cy="1803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module and_gate1;</a:t>
            </a:r>
          </a:p>
          <a:p>
            <a:r>
              <a:rPr lang="en-US" dirty="0"/>
              <a:t>  logic y;</a:t>
            </a:r>
          </a:p>
          <a:p>
            <a:r>
              <a:rPr lang="en-US" dirty="0"/>
              <a:t>  always @(*) begin</a:t>
            </a:r>
          </a:p>
          <a:p>
            <a:r>
              <a:rPr lang="en-US" dirty="0"/>
              <a:t>    y = a &amp; b;    // Procedural assignment</a:t>
            </a:r>
          </a:p>
          <a:p>
            <a:r>
              <a:rPr lang="en-US" dirty="0"/>
              <a:t>  end</a:t>
            </a:r>
          </a:p>
          <a:p>
            <a:r>
              <a:rPr lang="en-US" dirty="0" err="1"/>
              <a:t>endmodule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54EEA6-29D8-FA1A-A8DB-47486FFB85FF}"/>
              </a:ext>
            </a:extLst>
          </p:cNvPr>
          <p:cNvSpPr txBox="1"/>
          <p:nvPr/>
        </p:nvSpPr>
        <p:spPr>
          <a:xfrm>
            <a:off x="5897218" y="167920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module and_gate2;</a:t>
            </a:r>
          </a:p>
          <a:p>
            <a:r>
              <a:rPr lang="en-US" dirty="0"/>
              <a:t>  logic a, b, y;</a:t>
            </a:r>
          </a:p>
          <a:p>
            <a:r>
              <a:rPr lang="en-US" dirty="0"/>
              <a:t>  assign y = a &amp; b;  // Continuous assignment only</a:t>
            </a:r>
          </a:p>
          <a:p>
            <a:r>
              <a:rPr lang="en-US" dirty="0" err="1"/>
              <a:t>endmodule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C8044A-E56A-F4A8-52C3-296377C75082}"/>
              </a:ext>
            </a:extLst>
          </p:cNvPr>
          <p:cNvSpPr txBox="1"/>
          <p:nvPr/>
        </p:nvSpPr>
        <p:spPr>
          <a:xfrm>
            <a:off x="1848679" y="3357493"/>
            <a:ext cx="80970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logic can be used in both continuous and procedural assignments.</a:t>
            </a:r>
            <a:endParaRPr lang="en-IN" sz="32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65EFAC-EA72-A129-7AAD-E333E7E64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612" y="4912666"/>
            <a:ext cx="9706822" cy="14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0614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01F7E-4448-BC4F-54FE-84E462629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 err="1"/>
              <a:t>SystemVerilog</a:t>
            </a:r>
            <a:r>
              <a:rPr lang="en-US" sz="4000" b="1" dirty="0"/>
              <a:t> was born as an </a:t>
            </a:r>
            <a:r>
              <a:rPr lang="en-US" sz="4000" b="1" i="1" dirty="0"/>
              <a:t>extension</a:t>
            </a:r>
            <a:r>
              <a:rPr lang="en-US" sz="4000" b="1" dirty="0"/>
              <a:t> of Verilog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E3032-C68E-B4F9-C4F0-D5E530614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876996"/>
            <a:ext cx="11353800" cy="4351338"/>
          </a:xfrm>
        </p:spPr>
        <p:txBody>
          <a:bodyPr/>
          <a:lstStyle/>
          <a:p>
            <a:r>
              <a:rPr lang="en-US" dirty="0" err="1"/>
              <a:t>SystemVerilog</a:t>
            </a:r>
            <a:r>
              <a:rPr lang="en-US" dirty="0"/>
              <a:t> wasn’t created to replace Verilog, but to </a:t>
            </a:r>
            <a:r>
              <a:rPr lang="en-US" b="1" dirty="0"/>
              <a:t>extend</a:t>
            </a:r>
            <a:r>
              <a:rPr lang="en-US" dirty="0"/>
              <a:t> it.</a:t>
            </a:r>
          </a:p>
          <a:p>
            <a:r>
              <a:rPr lang="en-US" dirty="0"/>
              <a:t>Its early versions (IEEE 1800-2005) were meant mainly for </a:t>
            </a:r>
            <a:r>
              <a:rPr lang="en-US" b="1" dirty="0"/>
              <a:t>verification</a:t>
            </a:r>
            <a:r>
              <a:rPr lang="en-US" dirty="0"/>
              <a:t>, not RTL.</a:t>
            </a:r>
          </a:p>
          <a:p>
            <a:r>
              <a:rPr lang="en-US" dirty="0"/>
              <a:t>So, for </a:t>
            </a:r>
            <a:r>
              <a:rPr lang="en-US" b="1" dirty="0"/>
              <a:t>RTL module design</a:t>
            </a:r>
            <a:r>
              <a:rPr lang="en-US" dirty="0"/>
              <a:t>, Verilog’s limited feature set is </a:t>
            </a:r>
            <a:r>
              <a:rPr lang="en-US" b="1" dirty="0"/>
              <a:t>enough and safer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SystemVerilog</a:t>
            </a:r>
            <a:r>
              <a:rPr lang="en-US" dirty="0"/>
              <a:t> adds complexity that’s often </a:t>
            </a:r>
            <a:r>
              <a:rPr lang="en-US" i="1" dirty="0"/>
              <a:t>not needed</a:t>
            </a:r>
            <a:r>
              <a:rPr lang="en-US" dirty="0"/>
              <a:t> for pure RTL.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52727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B26725-D1AD-8D24-0A17-8EE564338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269" y="1647047"/>
            <a:ext cx="10305462" cy="29143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25269DD-268B-F661-9422-0D1F5F74A7A6}"/>
              </a:ext>
            </a:extLst>
          </p:cNvPr>
          <p:cNvSpPr/>
          <p:nvPr/>
        </p:nvSpPr>
        <p:spPr>
          <a:xfrm>
            <a:off x="943269" y="1647047"/>
            <a:ext cx="1399239" cy="7468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8906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3F2625-84AC-2EE7-65D4-C153B278C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571" y="1582412"/>
            <a:ext cx="8860704" cy="36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04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A3AD1D-8F3E-BE8C-C60A-542BAA7A96BB}"/>
              </a:ext>
            </a:extLst>
          </p:cNvPr>
          <p:cNvSpPr txBox="1"/>
          <p:nvPr/>
        </p:nvSpPr>
        <p:spPr>
          <a:xfrm>
            <a:off x="2941982" y="472391"/>
            <a:ext cx="6096000" cy="185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002060"/>
                </a:solidFill>
              </a:rPr>
              <a:t>bit [3:0] a;     // 2-state variable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002060"/>
                </a:solidFill>
              </a:rPr>
              <a:t>a = 4'b10xz;     // X and Z converted to 0 automatically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002060"/>
                </a:solidFill>
              </a:rPr>
              <a:t>$display("a = %b", a); // prints a = 1000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E4477D-F6DF-02DF-74ED-66C5AC8B5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41" y="2612698"/>
            <a:ext cx="11288517" cy="11005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C31CBB-0AB8-E012-D8BC-93E772FEFF29}"/>
              </a:ext>
            </a:extLst>
          </p:cNvPr>
          <p:cNvSpPr txBox="1"/>
          <p:nvPr/>
        </p:nvSpPr>
        <p:spPr>
          <a:xfrm>
            <a:off x="3246782" y="4189848"/>
            <a:ext cx="6096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dirty="0"/>
              <a:t>logic [3:0] b;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b = 4'b10xz;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$display("b = %b", b); // prints b = 10XZ</a:t>
            </a:r>
          </a:p>
        </p:txBody>
      </p:sp>
    </p:spTree>
    <p:extLst>
      <p:ext uri="{BB962C8B-B14F-4D97-AF65-F5344CB8AC3E}">
        <p14:creationId xmlns:p14="http://schemas.microsoft.com/office/powerpoint/2010/main" val="2045390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15F9F-98D5-B903-5BDE-9CD82CEA2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SystemVerilog</a:t>
            </a:r>
            <a:r>
              <a:rPr lang="en-IN" dirty="0"/>
              <a:t> introduced </a:t>
            </a:r>
            <a:r>
              <a:rPr lang="en-IN" b="1" dirty="0"/>
              <a:t>four standardized, sized integer types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7529BF-F539-0560-E946-CD3A1B4A6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295" y="1902696"/>
            <a:ext cx="5618096" cy="459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3906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5F0D8-47FC-AD5D-C465-0B49F28BC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OOP in </a:t>
            </a:r>
            <a:r>
              <a:rPr lang="en-IN" dirty="0" err="1"/>
              <a:t>SystemVerilog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BEFF5-A11A-1E24-C23F-24B0429C5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91" y="1825625"/>
            <a:ext cx="1167516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big verification projects, we need to </a:t>
            </a:r>
            <a:r>
              <a:rPr lang="en-US" b="1" dirty="0"/>
              <a:t>group related data and functions</a:t>
            </a:r>
            <a:r>
              <a:rPr lang="en-US" dirty="0"/>
              <a:t> together and reuse them easily.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02543B-4850-0479-E8AA-F6ABBDAC309C}"/>
              </a:ext>
            </a:extLst>
          </p:cNvPr>
          <p:cNvSpPr txBox="1"/>
          <p:nvPr/>
        </p:nvSpPr>
        <p:spPr>
          <a:xfrm>
            <a:off x="3041374" y="296733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Introduce the Concept of a Class</a:t>
            </a:r>
            <a:endParaRPr lang="en-IN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0C669A-D524-421D-2B3C-02BF615D6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895" y="3626137"/>
            <a:ext cx="6505476" cy="18891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5051133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87A1C9-CB00-010C-ED09-B2659BA1F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61" y="757305"/>
            <a:ext cx="8470174" cy="575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4535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317FC-FD3B-0846-EFC3-B18EFC5B8B6F}"/>
              </a:ext>
            </a:extLst>
          </p:cNvPr>
          <p:cNvSpPr txBox="1"/>
          <p:nvPr/>
        </p:nvSpPr>
        <p:spPr>
          <a:xfrm>
            <a:off x="1119884" y="1825281"/>
            <a:ext cx="111988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A layered testbench is an OOP-based verification structure where each class (generator, driver, monitor, scoreboard) plays a specific role — working together through objects instead of procedural code.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14099945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45D931-6395-63FA-8DBA-C91139516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584" y="292244"/>
            <a:ext cx="8052739" cy="62735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D1FBA4-79EF-E47F-0D8C-C22AF35327C0}"/>
              </a:ext>
            </a:extLst>
          </p:cNvPr>
          <p:cNvSpPr txBox="1"/>
          <p:nvPr/>
        </p:nvSpPr>
        <p:spPr>
          <a:xfrm>
            <a:off x="114677" y="2729948"/>
            <a:ext cx="3843131" cy="254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That’s the foundation of a layered testbench — </a:t>
            </a:r>
          </a:p>
          <a:p>
            <a:r>
              <a:rPr lang="en-US" sz="3200" b="1" dirty="0"/>
              <a:t>and the same idea </a:t>
            </a:r>
            <a:r>
              <a:rPr lang="en-US" sz="3200" b="1" dirty="0">
                <a:solidFill>
                  <a:srgbClr val="FF0000"/>
                </a:solidFill>
              </a:rPr>
              <a:t>scales up to UVM</a:t>
            </a:r>
            <a:r>
              <a:rPr lang="en-US" sz="3200" b="1" dirty="0"/>
              <a:t>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7216428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Inheritance and Constructors in SystemVerilog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Inheritance allows child classes to reuse and extend base classes.</a:t>
            </a:r>
          </a:p>
          <a:p>
            <a:pPr marL="0" indent="0">
              <a:buNone/>
            </a:pPr>
            <a:r>
              <a:rPr dirty="0"/>
              <a:t>• Supports method overriding using virtual/override.</a:t>
            </a:r>
          </a:p>
          <a:p>
            <a:pPr marL="0" indent="0">
              <a:buNone/>
            </a:pPr>
            <a:r>
              <a:rPr dirty="0"/>
              <a:t>• Promotes modular and reusable testbench components.</a:t>
            </a:r>
          </a:p>
          <a:p>
            <a:pPr marL="0" indent="0">
              <a:buNone/>
            </a:pPr>
            <a:r>
              <a:rPr dirty="0"/>
              <a:t>• Constructors (new) allocate memory and initialize objects.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Constructor (new)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Object handles are null until new is called.</a:t>
            </a:r>
          </a:p>
          <a:p>
            <a:pPr marL="0" indent="0">
              <a:buNone/>
            </a:pPr>
            <a:r>
              <a:rPr dirty="0"/>
              <a:t>• new creates the actual object instance.</a:t>
            </a:r>
          </a:p>
          <a:p>
            <a:pPr marL="0" indent="0">
              <a:buNone/>
            </a:pPr>
            <a:r>
              <a:rPr dirty="0"/>
              <a:t>• Can include arguments for initialization.</a:t>
            </a:r>
          </a:p>
          <a:p>
            <a:pPr marL="0" indent="0">
              <a:buNone/>
            </a:pPr>
            <a:r>
              <a:rPr dirty="0"/>
              <a:t>• Essential for safe access of class members.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Classes, Objects &amp; Mailboxes in Testbench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Classes define generator, driver, monitor, scoreboard.</a:t>
            </a:r>
          </a:p>
          <a:p>
            <a:pPr marL="0" indent="0">
              <a:buNone/>
            </a:pPr>
            <a:r>
              <a:rPr dirty="0"/>
              <a:t>• Objects are runtime instances enabling modularity.</a:t>
            </a:r>
          </a:p>
          <a:p>
            <a:pPr marL="0" indent="0">
              <a:buNone/>
            </a:pPr>
            <a:r>
              <a:rPr dirty="0"/>
              <a:t>• Mailboxes provide thread-safe communication.</a:t>
            </a:r>
          </a:p>
          <a:p>
            <a:pPr marL="0" indent="0">
              <a:buNone/>
            </a:pPr>
            <a:r>
              <a:rPr dirty="0"/>
              <a:t>• Enable transaction flow between testbench layers.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Mailbox-Based Communication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Generator → sends transactions → Driver</a:t>
            </a:r>
          </a:p>
          <a:p>
            <a:pPr marL="0" indent="0">
              <a:buNone/>
            </a:pPr>
            <a:r>
              <a:rPr dirty="0"/>
              <a:t>• Driver → drives DUT</a:t>
            </a:r>
          </a:p>
          <a:p>
            <a:pPr marL="0" indent="0">
              <a:buNone/>
            </a:pPr>
            <a:r>
              <a:rPr dirty="0"/>
              <a:t>• Monitor → captures DUT outputs → sends to Scoreboard</a:t>
            </a:r>
          </a:p>
          <a:p>
            <a:pPr marL="0" indent="0">
              <a:buNone/>
            </a:pPr>
            <a:r>
              <a:rPr dirty="0"/>
              <a:t>• Scoreboard → compares expected vs actual behavior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1393</Words>
  <Application>Microsoft Office PowerPoint</Application>
  <PresentationFormat>Widescreen</PresentationFormat>
  <Paragraphs>150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Wingdings</vt:lpstr>
      <vt:lpstr>Office Theme</vt:lpstr>
      <vt:lpstr>SystemVerilog for Functional Verification</vt:lpstr>
      <vt:lpstr>What is SystemVerilog?</vt:lpstr>
      <vt:lpstr>What is Verification?</vt:lpstr>
      <vt:lpstr>PowerPoint Presentation</vt:lpstr>
      <vt:lpstr>PowerPoint Presentation</vt:lpstr>
      <vt:lpstr>Coverage Measurement</vt:lpstr>
      <vt:lpstr>Verilog  Directed </vt:lpstr>
      <vt:lpstr>PowerPoint Presentation</vt:lpstr>
      <vt:lpstr>PowerPoint Presentation</vt:lpstr>
      <vt:lpstr>The Design (DUT) — Single-Port RAM</vt:lpstr>
      <vt:lpstr>PowerPoint Presentation</vt:lpstr>
      <vt:lpstr>Analogy</vt:lpstr>
      <vt:lpstr>PowerPoint Presentation</vt:lpstr>
      <vt:lpstr>What we need…</vt:lpstr>
      <vt:lpstr>Why SV?</vt:lpstr>
      <vt:lpstr>PowerPoint Presentation</vt:lpstr>
      <vt:lpstr>PowerPoint Presentation</vt:lpstr>
      <vt:lpstr>PowerPoint Presentation</vt:lpstr>
      <vt:lpstr>PowerPoint Presentation</vt:lpstr>
      <vt:lpstr>Verification framework</vt:lpstr>
      <vt:lpstr>UVM (Universal Verification Methodology)</vt:lpstr>
      <vt:lpstr>SV datatype</vt:lpstr>
      <vt:lpstr>PowerPoint Presentation</vt:lpstr>
      <vt:lpstr>SystemVerilog: Use logic for both!</vt:lpstr>
      <vt:lpstr>SystemVerilog was born as an extension of Verilog</vt:lpstr>
      <vt:lpstr>PowerPoint Presentation</vt:lpstr>
      <vt:lpstr>PowerPoint Presentation</vt:lpstr>
      <vt:lpstr>PowerPoint Presentation</vt:lpstr>
      <vt:lpstr>SystemVerilog introduced four standardized, sized integer types</vt:lpstr>
      <vt:lpstr>OOP in SystemVerilog</vt:lpstr>
      <vt:lpstr>PowerPoint Presentation</vt:lpstr>
      <vt:lpstr>PowerPoint Presentation</vt:lpstr>
      <vt:lpstr>PowerPoint Presentation</vt:lpstr>
      <vt:lpstr>Inheritance and Constructors in SystemVerilog</vt:lpstr>
      <vt:lpstr>Role of Constructor (new)</vt:lpstr>
      <vt:lpstr>Classes, Objects &amp; Mailboxes in Testbench</vt:lpstr>
      <vt:lpstr>Mailbox-Based Communication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suman samui</dc:creator>
  <cp:lastModifiedBy>suman samui</cp:lastModifiedBy>
  <cp:revision>8</cp:revision>
  <dcterms:created xsi:type="dcterms:W3CDTF">2025-11-05T11:14:43Z</dcterms:created>
  <dcterms:modified xsi:type="dcterms:W3CDTF">2025-11-15T14:51:04Z</dcterms:modified>
</cp:coreProperties>
</file>