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78" r:id="rId4"/>
    <p:sldId id="302" r:id="rId5"/>
    <p:sldId id="306" r:id="rId6"/>
    <p:sldId id="303" r:id="rId7"/>
    <p:sldId id="304" r:id="rId8"/>
    <p:sldId id="305" r:id="rId9"/>
    <p:sldId id="275" r:id="rId10"/>
    <p:sldId id="276" r:id="rId11"/>
    <p:sldId id="277" r:id="rId12"/>
    <p:sldId id="259" r:id="rId13"/>
    <p:sldId id="260" r:id="rId14"/>
    <p:sldId id="261" r:id="rId15"/>
    <p:sldId id="262" r:id="rId16"/>
    <p:sldId id="279" r:id="rId17"/>
    <p:sldId id="281" r:id="rId18"/>
    <p:sldId id="283" r:id="rId19"/>
    <p:sldId id="282" r:id="rId20"/>
    <p:sldId id="284" r:id="rId21"/>
    <p:sldId id="280" r:id="rId22"/>
    <p:sldId id="286" r:id="rId23"/>
    <p:sldId id="285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5" r:id="rId32"/>
    <p:sldId id="296" r:id="rId33"/>
    <p:sldId id="297" r:id="rId34"/>
    <p:sldId id="294" r:id="rId35"/>
    <p:sldId id="301" r:id="rId36"/>
    <p:sldId id="298" r:id="rId37"/>
    <p:sldId id="299" r:id="rId38"/>
    <p:sldId id="263" r:id="rId39"/>
    <p:sldId id="265" r:id="rId40"/>
    <p:sldId id="266" r:id="rId41"/>
    <p:sldId id="267" r:id="rId42"/>
    <p:sldId id="268" r:id="rId43"/>
    <p:sldId id="26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5FA67-569B-48F3-9313-C624B3F92B5C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8973C-3385-41B4-9D4A-2E2E59FCD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417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8973C-3385-41B4-9D4A-2E2E59FCDDBD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86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8973C-3385-41B4-9D4A-2E2E59FCDDBD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62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BC0E-15C2-43A8-5314-8411794D1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F4515-24E8-F18B-593D-5BCA30008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96C09-F536-5AE4-C65A-972A03A3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B9E23-7C9F-4A27-1A3C-C006713B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F02FB-C6A1-68FF-A6D0-C59CAABA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26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11D15-5C55-2565-B5B8-3BF2DACF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120F0-00DC-6291-B95C-AB14DAB39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FBE7E-B00D-B7F7-7023-A890D7FB2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2A77B-D616-94D5-9D2A-A28DE91B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DAD43-4C38-E425-F1D9-517E60684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41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6758-7A66-CDA9-F62C-5C8D63713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27D94-89C8-685D-4195-D66FF4673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B5AAE-233A-FE60-3639-6B520AEF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2FBC9-7327-864A-8E61-EDE6D8A8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3AE47-1ECC-D0B2-2EF7-C74B8E30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950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10009-4430-D818-4794-A4708CD6C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C939B-E437-5B32-6FCD-71BE360AF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CEF3F-A2B0-1235-A854-C3508E355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A6B47-E700-0F2B-5123-DD67F67D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C2F64-FF06-E03B-9912-A7C0783EC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29B73-D7AA-3142-180F-92261F9D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070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D9E9-4B0D-1B00-E8A1-5224580B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45904-0CC3-8A10-BA01-EEDEA60E6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BC7BD-7F9B-84C2-B006-FF0B045B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34BEF4-5994-1396-0FFF-4B45FC9C9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574DA-242D-E631-8B64-5D5970EAD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8D7A3-07BD-EF0A-8DB8-9605C8E2D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F7C22-9B71-CF33-3D8F-D2D525CA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1F687A-BEB0-6299-EFF9-D5BD5D8A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560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E66DD-2F54-B16B-1B7D-C0C96CBD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0908D-33D8-E081-C2D6-298F234D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EBC4D-75CD-7571-92FE-12625233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73135-7207-0EB6-A1D2-36358CD8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41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E03FD-31C9-83EC-FE00-E8472978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73D6C7-9521-789C-6658-8CE82CCC0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101D0-16D2-231D-4079-F6B3DC79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900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93A28-22B3-C217-3275-5FFF3A4B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1C626-E3D6-F1F0-2E10-F1A5E3BD3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6E998-541C-E548-1B83-9B48AD4C3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9ED84-775A-3148-E9FF-06DE465C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B4172-0221-7955-ACCF-30A98A693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444AA-8159-D254-AB95-FCD7AE2E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57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7A6AA-6A4A-F0A2-798F-36861AF8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42F8AD-CC38-C567-564E-961AE203F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32C20-AA10-A901-2CF7-F7F85394A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6D37A-5E72-B1D1-5715-9B0976DA2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CE0CA-9ABF-E635-BBAE-3DA7C9AAB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A4AFF-D3B4-B21C-CA8E-F6C1A382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37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8D86-14AF-554E-8206-A5E8744E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4F4F9-72D6-5372-6040-3735CC07C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4C715-8499-7295-CAB3-EC34A749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06195-5DF1-B0E7-750F-1B51973D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3AA31-723C-F013-740E-769EF3F6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726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50CB3B-A9D3-0EEC-EDB6-7CE1DE7FE2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CD66A-AE74-56C8-7F9A-D9207BA55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5952B-CB38-A07C-A700-20633DD19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BD3E3-81DD-1FF8-2753-74567EB32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94A5A-8AC7-A3CF-C094-A9E96CCD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357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834E9-69A2-2FE6-7B3D-E34D99C2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8C13A-5B19-6F11-13BE-474EFC863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3F455-50BC-643B-F232-18CD72452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1FBAB-E977-40CA-A29D-8B8BBD8E80F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060DA-1B80-CD1F-9C69-BD19B721A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2EAD5-7548-8540-864B-B5434FDF2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A941F-6047-4D4E-A98E-93FC5E48E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49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95EA-2CF8-8E0E-EC61-0B9AC0441B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More insight on Testbench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7F902-6C3F-B7A0-931B-553F7E9E46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Simple Verilog to Structured Verification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48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9216-7EE6-5A17-81C4-95981BF0F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1DE6D-AAA4-FD40-7AA3-FC914E4D0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System task</a:t>
            </a:r>
          </a:p>
          <a:p>
            <a:r>
              <a:rPr lang="en-IN" dirty="0"/>
              <a:t>File interaction</a:t>
            </a:r>
          </a:p>
          <a:p>
            <a:r>
              <a:rPr lang="en-IN" dirty="0"/>
              <a:t>Applying stimulus at signal transition</a:t>
            </a:r>
          </a:p>
        </p:txBody>
      </p:sp>
    </p:spTree>
    <p:extLst>
      <p:ext uri="{BB962C8B-B14F-4D97-AF65-F5344CB8AC3E}">
        <p14:creationId xmlns:p14="http://schemas.microsoft.com/office/powerpoint/2010/main" val="319315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41A7-EBF1-7FCD-4B5F-05DB9410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093"/>
            <a:ext cx="10515600" cy="1325563"/>
          </a:xfrm>
        </p:spPr>
        <p:txBody>
          <a:bodyPr/>
          <a:lstStyle/>
          <a:p>
            <a:r>
              <a:rPr lang="en-US" b="1" dirty="0"/>
              <a:t>System task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D08F7-0307-8873-524B-FF4339772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06" y="1243173"/>
            <a:ext cx="11760913" cy="520405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 </a:t>
            </a:r>
            <a:r>
              <a:rPr lang="en-US" b="1" dirty="0"/>
              <a:t>system task</a:t>
            </a:r>
            <a:r>
              <a:rPr lang="en-US" dirty="0"/>
              <a:t> is a </a:t>
            </a:r>
            <a:r>
              <a:rPr lang="en-US" b="1" dirty="0"/>
              <a:t>built-in command provided by the simulator</a:t>
            </a:r>
            <a:r>
              <a:rPr lang="en-US" dirty="0"/>
              <a:t>, not synthesized into hardware.</a:t>
            </a:r>
          </a:p>
          <a:p>
            <a:pPr>
              <a:lnSpc>
                <a:spcPct val="200000"/>
              </a:lnSpc>
            </a:pPr>
            <a:r>
              <a:rPr lang="en-US" dirty="0"/>
              <a:t>They </a:t>
            </a:r>
            <a:r>
              <a:rPr lang="en-US" b="1" dirty="0"/>
              <a:t>control or observe the simulation</a:t>
            </a:r>
            <a:r>
              <a:rPr lang="en-US" dirty="0"/>
              <a:t>, but </a:t>
            </a:r>
            <a:r>
              <a:rPr lang="en-US" b="1" dirty="0"/>
              <a:t>do not describe real hardware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</a:pPr>
            <a:r>
              <a:rPr lang="en-US" dirty="0"/>
              <a:t>All system tasks start with a </a:t>
            </a:r>
            <a:r>
              <a:rPr lang="en-US" b="1" dirty="0"/>
              <a:t>$ symbol</a:t>
            </a:r>
            <a:r>
              <a:rPr lang="en-US" dirty="0"/>
              <a:t> (dollar sign) —</a:t>
            </a:r>
          </a:p>
          <a:p>
            <a:pPr>
              <a:lnSpc>
                <a:spcPct val="200000"/>
              </a:lnSpc>
            </a:pPr>
            <a:r>
              <a:rPr lang="en-US" dirty="0"/>
              <a:t>They are part of the </a:t>
            </a:r>
            <a:r>
              <a:rPr lang="en-US" b="1" dirty="0"/>
              <a:t>simulation system</a:t>
            </a:r>
            <a:r>
              <a:rPr lang="en-US" dirty="0"/>
              <a:t>, not the circuit.</a:t>
            </a:r>
          </a:p>
        </p:txBody>
      </p:sp>
    </p:spTree>
    <p:extLst>
      <p:ext uri="{BB962C8B-B14F-4D97-AF65-F5344CB8AC3E}">
        <p14:creationId xmlns:p14="http://schemas.microsoft.com/office/powerpoint/2010/main" val="2448478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766DB1-BD8B-440B-3ACF-875F59860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67" y="1530919"/>
            <a:ext cx="8188224" cy="989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758285-8CB3-523E-7633-E773BEBCB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75" y="2709220"/>
            <a:ext cx="7287642" cy="9335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876D3AF-B4FC-B334-2F22-9D6D081EC342}"/>
              </a:ext>
            </a:extLst>
          </p:cNvPr>
          <p:cNvSpPr/>
          <p:nvPr/>
        </p:nvSpPr>
        <p:spPr>
          <a:xfrm>
            <a:off x="176453" y="2614640"/>
            <a:ext cx="976044" cy="562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48998C-58E8-88CD-A25A-E2D9796E4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67" y="4221522"/>
            <a:ext cx="6725589" cy="183858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9E168B-7209-EBF4-5A77-1B8B67532C0D}"/>
              </a:ext>
            </a:extLst>
          </p:cNvPr>
          <p:cNvSpPr/>
          <p:nvPr/>
        </p:nvSpPr>
        <p:spPr>
          <a:xfrm>
            <a:off x="0" y="4100645"/>
            <a:ext cx="1152497" cy="670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9D51895-7197-C336-8820-4C5B0C44A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889"/>
            <a:ext cx="10515600" cy="1325563"/>
          </a:xfrm>
        </p:spPr>
        <p:txBody>
          <a:bodyPr/>
          <a:lstStyle/>
          <a:p>
            <a:r>
              <a:rPr lang="en-US" b="1" dirty="0"/>
              <a:t>Most useful system tasks</a:t>
            </a:r>
            <a:r>
              <a:rPr lang="en-US" dirty="0"/>
              <a:t> in Verilog TB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256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2DF9D-483F-9A4C-A6E5-9CEAD1831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E0861B-CF11-1AAE-F38A-744581A13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50" y="181920"/>
            <a:ext cx="8191195" cy="64941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B39DF3-81EF-051C-DE5D-4A52DA6B4FE5}"/>
              </a:ext>
            </a:extLst>
          </p:cNvPr>
          <p:cNvSpPr/>
          <p:nvPr/>
        </p:nvSpPr>
        <p:spPr>
          <a:xfrm>
            <a:off x="1767155" y="181920"/>
            <a:ext cx="1152497" cy="670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397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57EFEE-51A9-EA70-34E8-AE1290B2D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28" y="2167849"/>
            <a:ext cx="7634120" cy="11320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4C5586-D5D2-043A-B223-0F6C92D7B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511" y="3984410"/>
            <a:ext cx="4600076" cy="13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927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EB3A77-2B50-EDC1-826B-C1603C2EE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72" y="539281"/>
            <a:ext cx="10757256" cy="13408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1EC7A1-FB4A-0BB4-3FB3-A056FE89E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98" y="2106268"/>
            <a:ext cx="10666342" cy="791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0D6FD9-0979-65D4-A1E8-405684BA4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72" y="3499021"/>
            <a:ext cx="9272246" cy="18127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6506905-1921-0349-4A5C-605EAFAA6975}"/>
              </a:ext>
            </a:extLst>
          </p:cNvPr>
          <p:cNvSpPr/>
          <p:nvPr/>
        </p:nvSpPr>
        <p:spPr>
          <a:xfrm>
            <a:off x="141123" y="3429000"/>
            <a:ext cx="1152497" cy="670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963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4E352E-97CD-2F4E-9E5F-81EE63B50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87" y="64221"/>
            <a:ext cx="8290482" cy="1566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EEE1A1-61B1-EBDF-2C2D-910A0FABC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24" y="1782581"/>
            <a:ext cx="6321764" cy="2525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BB7A04-3D47-F3FB-688F-9C28436C8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301" y="4423509"/>
            <a:ext cx="7512453" cy="20580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3CF0B37-D0DA-218B-F296-90D039C277BC}"/>
              </a:ext>
            </a:extLst>
          </p:cNvPr>
          <p:cNvSpPr/>
          <p:nvPr/>
        </p:nvSpPr>
        <p:spPr>
          <a:xfrm>
            <a:off x="1908053" y="4547731"/>
            <a:ext cx="1152497" cy="670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248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14552B-A6B1-BE56-AB8F-4C59BFDBE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31" y="410696"/>
            <a:ext cx="9917737" cy="62161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9964CF9-C08C-57AE-7527-9A3774A33576}"/>
              </a:ext>
            </a:extLst>
          </p:cNvPr>
          <p:cNvSpPr/>
          <p:nvPr/>
        </p:nvSpPr>
        <p:spPr>
          <a:xfrm>
            <a:off x="963055" y="410696"/>
            <a:ext cx="1389727" cy="670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B067AE-6B92-4E37-B5B0-CDE622905B05}"/>
              </a:ext>
            </a:extLst>
          </p:cNvPr>
          <p:cNvSpPr/>
          <p:nvPr/>
        </p:nvSpPr>
        <p:spPr>
          <a:xfrm>
            <a:off x="505421" y="994025"/>
            <a:ext cx="1152497" cy="670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851D00-74CD-4150-3F4B-938F8B96B2A6}"/>
              </a:ext>
            </a:extLst>
          </p:cNvPr>
          <p:cNvSpPr/>
          <p:nvPr/>
        </p:nvSpPr>
        <p:spPr>
          <a:xfrm>
            <a:off x="759844" y="4600255"/>
            <a:ext cx="1003087" cy="670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775A1-5960-8388-9094-B1BEDABD7EBC}"/>
              </a:ext>
            </a:extLst>
          </p:cNvPr>
          <p:cNvSpPr/>
          <p:nvPr/>
        </p:nvSpPr>
        <p:spPr>
          <a:xfrm>
            <a:off x="610434" y="2339939"/>
            <a:ext cx="1152497" cy="670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F638D3-262C-C48F-EC1C-05DD5D22716A}"/>
              </a:ext>
            </a:extLst>
          </p:cNvPr>
          <p:cNvSpPr/>
          <p:nvPr/>
        </p:nvSpPr>
        <p:spPr>
          <a:xfrm>
            <a:off x="900966" y="6187767"/>
            <a:ext cx="10267043" cy="670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63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DEC8E8-3F18-ED4D-E103-A40D02F60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01" y="950427"/>
            <a:ext cx="8880365" cy="572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41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E01C00-50FE-497B-33EE-59FA259C2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629" y="1195203"/>
            <a:ext cx="5273571" cy="488554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D437CF-EC80-EC00-511E-4C8E15A7E656}"/>
              </a:ext>
            </a:extLst>
          </p:cNvPr>
          <p:cNvSpPr/>
          <p:nvPr/>
        </p:nvSpPr>
        <p:spPr>
          <a:xfrm>
            <a:off x="2257600" y="2370762"/>
            <a:ext cx="1152497" cy="670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590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4C5A4A-8754-4217-C17B-D84954879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40" y="2188395"/>
            <a:ext cx="10581720" cy="298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761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8D11A-A3BE-AA31-07E6-C9C7933D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055" y="1500028"/>
            <a:ext cx="10231076" cy="404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24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086B4-08B4-842B-CDF5-2CAC4F5F8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06" y="1073995"/>
            <a:ext cx="11669988" cy="498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87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1E9F-B88A-7FB7-DBFC-0276D869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46" y="0"/>
            <a:ext cx="10515600" cy="1325563"/>
          </a:xfrm>
        </p:spPr>
        <p:txBody>
          <a:bodyPr/>
          <a:lstStyle/>
          <a:p>
            <a:r>
              <a:rPr lang="en-IN" b="1" dirty="0"/>
              <a:t>Test Stimulus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DE06D-6F05-37C8-623E-472DBC53E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047" y="1033142"/>
            <a:ext cx="11846103" cy="52649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rgbClr val="002060"/>
                </a:solidFill>
              </a:rPr>
              <a:t>Case-I: # delay &amp; explicit signal  value assignment for specific test cases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002060"/>
                </a:solidFill>
              </a:rPr>
              <a:t>  (Can we provide the stimulus for all possible test cases).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</a:rPr>
              <a:t>Case-II: # delay &amp; signal value come from file (result may be stored in file)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02060"/>
                </a:solidFill>
              </a:rPr>
              <a:t>Case-III: No # delay, but signal value (explicitly) would be changed before every positive edge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</a:rPr>
              <a:t>Case-IV: No # delay &amp; signal value come from file  &amp; signal value (explicitly) would be changed before every positive edge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1218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D11CE9-9AA6-1615-8D1F-45E49D8EB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49" y="2081349"/>
            <a:ext cx="11601178" cy="173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151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7E43D-3AFA-9D5E-A9A6-F10752D5A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875" y="2239784"/>
            <a:ext cx="9884828" cy="27740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337853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8B614D-68D2-984B-AC0B-BFF878D430F7}"/>
              </a:ext>
            </a:extLst>
          </p:cNvPr>
          <p:cNvSpPr txBox="1"/>
          <p:nvPr/>
        </p:nvSpPr>
        <p:spPr>
          <a:xfrm>
            <a:off x="838200" y="1937149"/>
            <a:ext cx="10515600" cy="1695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“Apply the following input pairs to a and b at 0 ns, 10 ns, 20 ns, and 30 ns respectively:(5, 3), (10, 7), (100, 55), (255, 1).”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1A878F-FB55-E41D-B290-0B644384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Write a testbench for the 8-bit adder</a:t>
            </a:r>
          </a:p>
        </p:txBody>
      </p:sp>
    </p:spTree>
    <p:extLst>
      <p:ext uri="{BB962C8B-B14F-4D97-AF65-F5344CB8AC3E}">
        <p14:creationId xmlns:p14="http://schemas.microsoft.com/office/powerpoint/2010/main" val="235222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13CC7C-7CE7-01D5-80E1-BE7770D18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675" y="194817"/>
            <a:ext cx="5266207" cy="6324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141CB20-4D89-D3EB-F212-5FDF94418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4508" y="2229492"/>
            <a:ext cx="4859676" cy="27329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4000" dirty="0">
                <a:solidFill>
                  <a:srgbClr val="FF0000"/>
                </a:solidFill>
              </a:rPr>
              <a:t>Explicit time (delay) and the value of the signals </a:t>
            </a:r>
          </a:p>
        </p:txBody>
      </p:sp>
    </p:spTree>
    <p:extLst>
      <p:ext uri="{BB962C8B-B14F-4D97-AF65-F5344CB8AC3E}">
        <p14:creationId xmlns:p14="http://schemas.microsoft.com/office/powerpoint/2010/main" val="1196961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0D873D-E015-C9C1-9BB1-BE6C2342C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1" y="2157574"/>
            <a:ext cx="12027070" cy="164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99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278468-9A8F-C286-5D96-28097ED4C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225" y="959679"/>
            <a:ext cx="10362374" cy="51945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696036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066D4-2AE1-C7F5-7069-F46172926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38E947-FD1B-22BF-3F69-B089949BAE18}"/>
              </a:ext>
            </a:extLst>
          </p:cNvPr>
          <p:cNvSpPr txBox="1"/>
          <p:nvPr/>
        </p:nvSpPr>
        <p:spPr>
          <a:xfrm>
            <a:off x="838200" y="1719622"/>
            <a:ext cx="11018178" cy="3418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FF0000"/>
                </a:solidFill>
              </a:rPr>
              <a:t>Clk</a:t>
            </a:r>
            <a:r>
              <a:rPr lang="en-US" sz="2800" b="1" dirty="0">
                <a:solidFill>
                  <a:srgbClr val="FF0000"/>
                </a:solidFill>
              </a:rPr>
              <a:t> period = 10 ns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FF0000"/>
                </a:solidFill>
              </a:rPr>
              <a:t>rst</a:t>
            </a:r>
            <a:r>
              <a:rPr lang="en-US" sz="2800" b="1" dirty="0">
                <a:solidFill>
                  <a:srgbClr val="FF0000"/>
                </a:solidFill>
              </a:rPr>
              <a:t> should be high initially till t=15 ns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Apply the following input pairs to a and b at 0 ns, 20 ns, 40 ns, and 60 ns respectively</a:t>
            </a:r>
            <a:r>
              <a:rPr lang="en-US" sz="2800" b="1" dirty="0">
                <a:solidFill>
                  <a:srgbClr val="002060"/>
                </a:solidFill>
              </a:rPr>
              <a:t>:(5, 3), (10, 7), (255, 1).”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AD6E0D-D52E-6EEE-7B4B-E4600907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Write a testbench for the 8-bit adder</a:t>
            </a:r>
          </a:p>
        </p:txBody>
      </p:sp>
    </p:spTree>
    <p:extLst>
      <p:ext uri="{BB962C8B-B14F-4D97-AF65-F5344CB8AC3E}">
        <p14:creationId xmlns:p14="http://schemas.microsoft.com/office/powerpoint/2010/main" val="752838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0A90A1-88DD-BFB5-8A7D-A12D735D8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20" y="202777"/>
            <a:ext cx="7096863" cy="6452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37646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90D875-2AAC-5237-318D-73FABDA8B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39" y="2383604"/>
            <a:ext cx="11361926" cy="17142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12242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9A717E-5502-254E-BE72-EAB737AFA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11" y="1828801"/>
            <a:ext cx="11816778" cy="3819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48EB41C-5676-1812-3258-733B1436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47" y="118545"/>
            <a:ext cx="12915472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Four separate blocks:</a:t>
            </a:r>
            <a:br>
              <a:rPr lang="en-US" sz="4000" b="1" dirty="0"/>
            </a:br>
            <a:r>
              <a:rPr lang="en-US" sz="4000" b="1" dirty="0">
                <a:solidFill>
                  <a:srgbClr val="00B050"/>
                </a:solidFill>
              </a:rPr>
              <a:t>Each serving one specific purpose</a:t>
            </a:r>
            <a:endParaRPr lang="en-IN" sz="4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129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64389A-9982-2EBB-2EB4-2EC0A9587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620" y="366005"/>
            <a:ext cx="9653550" cy="612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21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E5153F-0E70-0B36-9A88-5080AD360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21" y="1073879"/>
            <a:ext cx="8812709" cy="47102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4EDF3C-6603-4829-5B40-0FF6224E7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233" y="-124991"/>
            <a:ext cx="8897006" cy="15179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F16C904-D913-64E6-1D98-D53B01AE152F}"/>
              </a:ext>
            </a:extLst>
          </p:cNvPr>
          <p:cNvSpPr/>
          <p:nvPr/>
        </p:nvSpPr>
        <p:spPr>
          <a:xfrm>
            <a:off x="1746607" y="4572000"/>
            <a:ext cx="8812709" cy="14383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60D11A-D221-EA5D-48C2-0D0828183F69}"/>
              </a:ext>
            </a:extLst>
          </p:cNvPr>
          <p:cNvSpPr/>
          <p:nvPr/>
        </p:nvSpPr>
        <p:spPr>
          <a:xfrm>
            <a:off x="1305233" y="1392910"/>
            <a:ext cx="362883" cy="45352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484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3A6F553-7639-76D8-615A-5C7537C3E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50" y="977858"/>
            <a:ext cx="11046011" cy="393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6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27D6CE-B882-F19F-B80F-68E4B12F5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7" y="1690688"/>
            <a:ext cx="11424010" cy="169991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F06B2AD-C055-9707-D2B3-5D0977CD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File-Based Testbench for Registered 8-bit Adder</a:t>
            </a:r>
            <a:endParaRPr lang="en-IN" sz="4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B2628-62D1-52F4-1E2C-241B12D5E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877" y="3218070"/>
            <a:ext cx="5955060" cy="35058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AE2DB8-6A33-CE99-253A-B47127FAF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167" y="3898209"/>
            <a:ext cx="1732381" cy="231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29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447A23-FA35-D9B6-7485-05971104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05" y="141269"/>
            <a:ext cx="6611689" cy="65754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B278F6-CD3B-5341-6131-995939E59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370" y="808866"/>
            <a:ext cx="5108925" cy="54275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958564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73C0F-F24E-8711-AEBE-4EB6B755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TestBench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AA30E-EDE5-5C5F-C3CC-80C473C55605}"/>
              </a:ext>
            </a:extLst>
          </p:cNvPr>
          <p:cNvSpPr txBox="1"/>
          <p:nvPr/>
        </p:nvSpPr>
        <p:spPr>
          <a:xfrm>
            <a:off x="390419" y="2230164"/>
            <a:ext cx="11702264" cy="255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/>
              <a:t>Write a Verilog testbench for the registered 8-bit adder such that the inputs a and b are changed only at the </a:t>
            </a:r>
            <a:r>
              <a:rPr lang="en-US" sz="2800" b="1" dirty="0" err="1"/>
              <a:t>negedge</a:t>
            </a:r>
            <a:r>
              <a:rPr lang="en-US" sz="2800" b="1" dirty="0"/>
              <a:t> of the clock, ensuring the DUT samples them on the next </a:t>
            </a:r>
            <a:r>
              <a:rPr lang="en-US" sz="2800" b="1" dirty="0" err="1"/>
              <a:t>posedge</a:t>
            </a:r>
            <a:r>
              <a:rPr lang="en-US" sz="2800" b="1" dirty="0"/>
              <a:t>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1797816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274E64-E1C8-A56E-4E97-975E1EDC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4545"/>
            <a:ext cx="12111716" cy="341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88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94EE8B-E2B3-3702-FBA9-0AD9BBAAF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990" y="200275"/>
            <a:ext cx="8641068" cy="5106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7B9CAB-4921-6B82-BDA7-E532F7D87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275" y="4882948"/>
            <a:ext cx="1224873" cy="846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C064B9-6046-2379-E00F-FBB4AF75A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827" y="5526429"/>
            <a:ext cx="1885767" cy="92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666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0B9914-0553-9640-CD84-FC03A6B66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18" y="1592494"/>
            <a:ext cx="10914964" cy="34320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918511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4D747E-14A9-D057-CDDB-83B2A55E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882" y="803374"/>
            <a:ext cx="7096206" cy="58155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BADA76-6446-17E9-C44C-AA112DA5F5A5}"/>
              </a:ext>
            </a:extLst>
          </p:cNvPr>
          <p:cNvSpPr txBox="1"/>
          <p:nvPr/>
        </p:nvSpPr>
        <p:spPr>
          <a:xfrm>
            <a:off x="154112" y="1988519"/>
            <a:ext cx="4482770" cy="255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We can automatically provide all possible input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 stimuli for a and b</a:t>
            </a:r>
            <a:endParaRPr lang="en-IN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342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6825D4-DA35-188C-0B63-35DDB8C23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380" y="0"/>
            <a:ext cx="85485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817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3B9ED-3549-EBA0-D0B6-353E74387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44" y="992069"/>
            <a:ext cx="10818687" cy="7091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58952D-1034-5ECB-A020-4C0854C62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44" y="2206361"/>
            <a:ext cx="11147468" cy="378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435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0837A3-AD34-FCE3-EB58-2FFB26FA5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64" y="513708"/>
            <a:ext cx="11620072" cy="31969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56AD21-E90B-1527-6E3E-5B8C765B7268}"/>
              </a:ext>
            </a:extLst>
          </p:cNvPr>
          <p:cNvSpPr/>
          <p:nvPr/>
        </p:nvSpPr>
        <p:spPr>
          <a:xfrm>
            <a:off x="523982" y="513708"/>
            <a:ext cx="1397285" cy="8219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605CD1-101E-7EE6-E289-07E0D62ED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53" y="4725427"/>
            <a:ext cx="11725283" cy="1335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FF534D-21FB-9FA1-2400-57A3FA1E969D}"/>
              </a:ext>
            </a:extLst>
          </p:cNvPr>
          <p:cNvSpPr/>
          <p:nvPr/>
        </p:nvSpPr>
        <p:spPr>
          <a:xfrm>
            <a:off x="410967" y="3018034"/>
            <a:ext cx="1068512" cy="8219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0958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485621-D6B9-0E03-99E3-46441F246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605" y="549218"/>
            <a:ext cx="8455822" cy="603651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380A71-74EE-E47F-5432-D56DAA29B2B0}"/>
              </a:ext>
            </a:extLst>
          </p:cNvPr>
          <p:cNvSpPr/>
          <p:nvPr/>
        </p:nvSpPr>
        <p:spPr>
          <a:xfrm>
            <a:off x="2004605" y="380144"/>
            <a:ext cx="1397285" cy="8219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84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49A8-18C6-8E0E-C902-CA6DCF1F1E1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6868" y="365125"/>
            <a:ext cx="10515600" cy="1325563"/>
          </a:xfrm>
        </p:spPr>
        <p:txBody>
          <a:bodyPr/>
          <a:lstStyle/>
          <a:p>
            <a:r>
              <a:rPr lang="en-IN" b="1" dirty="0"/>
              <a:t>Structured testbench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CB3AA-0BED-2919-A0E5-975A0EB5E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32" y="1290223"/>
            <a:ext cx="7138670" cy="533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075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94D995-2B94-E38E-D394-5D172C571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974" y="1406426"/>
            <a:ext cx="10094051" cy="52358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ABCDFF9-17B4-6A42-9557-D23E645DD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1301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Software framework </a:t>
            </a:r>
            <a:r>
              <a:rPr lang="en-IN" b="1" dirty="0">
                <a:solidFill>
                  <a:srgbClr val="0070C0"/>
                </a:solidFill>
                <a:sym typeface="Wingdings" panose="05000000000000000000" pitchFamily="2" charset="2"/>
              </a:rPr>
              <a:t> Structured TB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6954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C2E2-E756-45EC-7B9C-6DED2C60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Coding style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81401-E2A5-01E6-668F-7F5C47382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87270"/>
            <a:ext cx="113538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sz="3600" b="1" dirty="0"/>
              <a:t>In plain (directed TB) Verilog, you write all of this in one file; </a:t>
            </a:r>
          </a:p>
          <a:p>
            <a:pPr>
              <a:lnSpc>
                <a:spcPct val="160000"/>
              </a:lnSpc>
            </a:pPr>
            <a:r>
              <a:rPr lang="en-US" sz="3600" b="1" dirty="0"/>
              <a:t>In structured/Layered TB approach, we split the code into separate blocks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0070C0"/>
                </a:solidFill>
              </a:rPr>
              <a:t>Classes 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0070C0"/>
                </a:solidFill>
              </a:rPr>
              <a:t>Interface. 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US" sz="3200" b="1" dirty="0">
                <a:solidFill>
                  <a:srgbClr val="C00000"/>
                </a:solidFill>
              </a:rPr>
              <a:t>They are reusable.</a:t>
            </a:r>
          </a:p>
        </p:txBody>
      </p:sp>
    </p:spTree>
    <p:extLst>
      <p:ext uri="{BB962C8B-B14F-4D97-AF65-F5344CB8AC3E}">
        <p14:creationId xmlns:p14="http://schemas.microsoft.com/office/powerpoint/2010/main" val="38427511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DAD2-AD1B-2328-8304-1FD3C69A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SystemVerilog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15F59-0FAD-C7B2-2A5F-D4377D5A3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Modular approach in TB: Reusable classes and interfaces.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BE459-6A39-CD8B-C957-5F667B9EB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40881"/>
            <a:ext cx="10836127" cy="329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84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423</Words>
  <Application>Microsoft Office PowerPoint</Application>
  <PresentationFormat>Widescreen</PresentationFormat>
  <Paragraphs>43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Wingdings</vt:lpstr>
      <vt:lpstr>Office Theme</vt:lpstr>
      <vt:lpstr>More insight on Testbench</vt:lpstr>
      <vt:lpstr>Features</vt:lpstr>
      <vt:lpstr>System task</vt:lpstr>
      <vt:lpstr>Most useful system tasks in Verilog TB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Stimulus</vt:lpstr>
      <vt:lpstr>PowerPoint Presentation</vt:lpstr>
      <vt:lpstr>PowerPoint Presentation</vt:lpstr>
      <vt:lpstr>Write a testbench for the 8-bit adder</vt:lpstr>
      <vt:lpstr>Explicit time (delay) and the value of the signals </vt:lpstr>
      <vt:lpstr>PowerPoint Presentation</vt:lpstr>
      <vt:lpstr>PowerPoint Presentation</vt:lpstr>
      <vt:lpstr>Write a testbench for the 8-bit adder</vt:lpstr>
      <vt:lpstr>PowerPoint Presentation</vt:lpstr>
      <vt:lpstr>PowerPoint Presentation</vt:lpstr>
      <vt:lpstr>Four separate blocks: Each serving one specific purpose</vt:lpstr>
      <vt:lpstr>PowerPoint Presentation</vt:lpstr>
      <vt:lpstr>PowerPoint Presentation</vt:lpstr>
      <vt:lpstr>PowerPoint Presentation</vt:lpstr>
      <vt:lpstr>File-Based Testbench for Registered 8-bit Adder</vt:lpstr>
      <vt:lpstr>PowerPoint Presentation</vt:lpstr>
      <vt:lpstr>TestBench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Structured testbench</vt:lpstr>
      <vt:lpstr>Software framework  Structured TB</vt:lpstr>
      <vt:lpstr>Coding style </vt:lpstr>
      <vt:lpstr>SystemVerilog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suman samui</dc:creator>
  <cp:lastModifiedBy>suman samui</cp:lastModifiedBy>
  <cp:revision>17</cp:revision>
  <dcterms:created xsi:type="dcterms:W3CDTF">2025-10-20T06:25:07Z</dcterms:created>
  <dcterms:modified xsi:type="dcterms:W3CDTF">2025-11-15T14:34:20Z</dcterms:modified>
</cp:coreProperties>
</file>